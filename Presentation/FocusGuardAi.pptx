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9.png"/><Relationship Id="rId13" Type="http://schemas.openxmlformats.org/officeDocument/2006/relationships/image" Target="../media/image4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2.png"/><Relationship Id="rId4" Type="http://schemas.openxmlformats.org/officeDocument/2006/relationships/image" Target="../media/image1.png"/><Relationship Id="rId9" Type="http://schemas.openxmlformats.org/officeDocument/2006/relationships/image" Target="../media/image31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14.png"/><Relationship Id="rId7" Type="http://schemas.openxmlformats.org/officeDocument/2006/relationships/image" Target="../media/image32.png"/><Relationship Id="rId8" Type="http://schemas.openxmlformats.org/officeDocument/2006/relationships/image" Target="../media/image5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8.png"/><Relationship Id="rId4" Type="http://schemas.openxmlformats.org/officeDocument/2006/relationships/image" Target="../media/image4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.png"/><Relationship Id="rId5" Type="http://schemas.openxmlformats.org/officeDocument/2006/relationships/image" Target="../media/image55.png"/><Relationship Id="rId6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47.png"/><Relationship Id="rId5" Type="http://schemas.openxmlformats.org/officeDocument/2006/relationships/image" Target="../media/image57.png"/><Relationship Id="rId6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0" y="-2194560"/>
            <a:ext cx="6583800" cy="6583800"/>
          </a:xfrm>
          <a:prstGeom prst="ellipse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01200" y="-914400"/>
            <a:ext cx="3931800" cy="393180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868680"/>
            <a:ext cx="960000" cy="96000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591" y="111831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920240" y="1078992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FOCUS INTELLIGENCE PLATFORM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377440"/>
            <a:ext cx="9601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3429000"/>
            <a:ext cx="8961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AI-Powered Productivity &amp; Focus Intelligence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3977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"Understand Your Focus. Improve Your Productivity."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3299460" y="4762500"/>
            <a:ext cx="209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1" sz="1000">
              <a:solidFill>
                <a:srgbClr val="E3A8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Purushothaman</a:t>
            </a:r>
            <a:endParaRPr b="1" sz="1600">
              <a:solidFill>
                <a:srgbClr val="1A1D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822960" y="4762500"/>
            <a:ext cx="209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COORDINATOR</a:t>
            </a:r>
            <a:endParaRPr b="1" sz="1000">
              <a:solidFill>
                <a:srgbClr val="5C64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Srikanth</a:t>
            </a:r>
            <a:endParaRPr b="1" sz="1600">
              <a:solidFill>
                <a:srgbClr val="1A1D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64008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795528"/>
            <a:ext cx="10789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The Problem Behind Productivity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1755648"/>
            <a:ext cx="91500" cy="9150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60120" y="1581912"/>
            <a:ext cx="566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People often work for hours without understanding where their time actually goes.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85800" y="2322576"/>
            <a:ext cx="91500" cy="9150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60120" y="2148840"/>
            <a:ext cx="566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Digital distractions quietly reduce concentration throughout the day.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5800" y="2889504"/>
            <a:ext cx="91500" cy="9150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60120" y="2715768"/>
            <a:ext cx="566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Productivity is difficult to measure objectively — most tools rely on self-reporting.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85800" y="3456432"/>
            <a:ext cx="91500" cy="9150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60120" y="3282696"/>
            <a:ext cx="566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Traditional tools track completed tasks, not the behavior behind them.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85800" y="4023360"/>
            <a:ext cx="91500" cy="9150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60120" y="3849624"/>
            <a:ext cx="566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Users rarely get guidance personalized to their own activity patterns.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0080" y="4709160"/>
            <a:ext cx="6035100" cy="8229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68680" y="4709160"/>
            <a:ext cx="5577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"FocusGuard AI turns activity data into actionable productivity intelligence."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223760" y="1714500"/>
            <a:ext cx="4297800" cy="5334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351776" y="1790700"/>
            <a:ext cx="381000" cy="381000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2548" y="1871663"/>
            <a:ext cx="219600" cy="2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7955280" y="1714500"/>
            <a:ext cx="338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1" i="0" sz="1300">
              <a:solidFill>
                <a:srgbClr val="1A1D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226296" y="2295525"/>
            <a:ext cx="228600" cy="228600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" name="Google Shape;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9264396" y="233362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7223760" y="2571750"/>
            <a:ext cx="4297800" cy="5334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7351776" y="2647950"/>
            <a:ext cx="381000" cy="381000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2548" y="2728913"/>
            <a:ext cx="219600" cy="2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7955280" y="2571750"/>
            <a:ext cx="338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1" i="0" sz="1300">
              <a:solidFill>
                <a:srgbClr val="1A1D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226296" y="3152775"/>
            <a:ext cx="228600" cy="228600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9264396" y="319087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7223760" y="3429000"/>
            <a:ext cx="4297800" cy="5334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351776" y="3505200"/>
            <a:ext cx="381000" cy="381000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2548" y="3586163"/>
            <a:ext cx="219600" cy="2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7955280" y="3429000"/>
            <a:ext cx="338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AI Insights</a:t>
            </a:r>
            <a:endParaRPr b="1" i="0" sz="1300">
              <a:solidFill>
                <a:srgbClr val="1A1D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9226296" y="4010025"/>
            <a:ext cx="228600" cy="228600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9264396" y="404812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7223760" y="4286250"/>
            <a:ext cx="4297800" cy="5334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351776" y="4362450"/>
            <a:ext cx="381000" cy="381000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32548" y="4443413"/>
            <a:ext cx="219600" cy="2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7955280" y="4286250"/>
            <a:ext cx="338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Better Decisions</a:t>
            </a:r>
            <a:endParaRPr b="1" i="0" sz="1300">
              <a:solidFill>
                <a:srgbClr val="1A1D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 rot="5400000">
            <a:off x="9226296" y="4867275"/>
            <a:ext cx="228600" cy="228600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9264396" y="490537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7223760" y="5143500"/>
            <a:ext cx="4297800" cy="53340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351776" y="5219700"/>
            <a:ext cx="381000" cy="38100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32548" y="5300663"/>
            <a:ext cx="219600" cy="2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7955280" y="5143500"/>
            <a:ext cx="338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Improved Focus</a:t>
            </a:r>
            <a:endParaRPr b="1" i="0" sz="1300">
              <a:solidFill>
                <a:srgbClr val="1A1D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57200" y="64465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40080" y="7955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One Platform. Complete Focus Intelligence.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0080" y="1691640"/>
            <a:ext cx="3611880" cy="1965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1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868680" y="26060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Productivity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68680" y="297180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A centralized, role-based overview of focus and productivity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434840" y="1691640"/>
            <a:ext cx="3611880" cy="1965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663440" y="1920240"/>
            <a:ext cx="594360" cy="59436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97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4663440" y="26060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Activity Intelligence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663440" y="297180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Distinguishes productive, neutral, and distracting activity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229600" y="1691640"/>
            <a:ext cx="3611880" cy="1965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458200" y="1920240"/>
            <a:ext cx="594360" cy="59436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1273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8458200" y="26060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Focus Goals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458200" y="297180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Measurable productivity goals with priority, deadline, and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40080" y="3840480"/>
            <a:ext cx="3611880" cy="1965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3214" y="42236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868680" y="47548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AI Productivity Coach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68680" y="512064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Personalized insights and recommendations from activity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434840" y="3840480"/>
            <a:ext cx="3611880" cy="1965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663440" y="4069080"/>
            <a:ext cx="594360" cy="59436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7974" y="42236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4663440" y="47548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AI Chatbot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663440" y="512064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A scoped assistant for productivity-related questions and coaching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229600" y="3840480"/>
            <a:ext cx="3611880" cy="1965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458200" y="4069080"/>
            <a:ext cx="594360" cy="59436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12734" y="42236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8458200" y="47548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Smart Analytics &amp; 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458200" y="512064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Daily, weekly, and monthly trends, exportable as CSV or PDF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40080" y="7955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Built on a Modern &amp; Scalable 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40080" y="1600200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1408176" y="1737360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822" y="18800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640080" y="2377440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40080" y="2633472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862072" y="1600200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630168" y="1737360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814" y="18800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2862072" y="2377440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862072" y="2633472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084064" y="1600200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852160" y="1737360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4806" y="18800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5084064" y="2377440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084064" y="2633472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306056" y="1600200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074152" y="1737360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6798" y="18800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7306056" y="2377440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Django + DRF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306056" y="2633472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528048" y="1600200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0296144" y="1737360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38790" y="18800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9528048" y="2377440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Groq LLM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528048" y="2633472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40080" y="3136392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408176" y="3273552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50822" y="34161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640080" y="3913632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0080" y="4169664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2862072" y="3136392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630168" y="3273552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72814" y="34161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2862072" y="3913632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862072" y="4169664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084064" y="3136392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852160" y="3273552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94806" y="34161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5084064" y="3913632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Celery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84064" y="4169664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306056" y="3136392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074152" y="3273552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16798" y="34161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7306056" y="3913632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306056" y="4169664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528048" y="3136392"/>
            <a:ext cx="2084832" cy="13716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0296144" y="3273552"/>
            <a:ext cx="548640" cy="54864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38790" y="34161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9528048" y="3913632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528048" y="4169664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0080" y="4892040"/>
            <a:ext cx="1920240" cy="54864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40080" y="48920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586609" y="5029200"/>
            <a:ext cx="274320" cy="274320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57932" y="5100523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2887218" y="4892040"/>
            <a:ext cx="1920240" cy="54864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2887218" y="48920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833747" y="5029200"/>
            <a:ext cx="274320" cy="274320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05070" y="5100523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5134356" y="4892040"/>
            <a:ext cx="1920240" cy="54864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134356" y="48920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080885" y="5029200"/>
            <a:ext cx="274320" cy="274320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52208" y="5100523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7381494" y="4892040"/>
            <a:ext cx="1920240" cy="54864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7381494" y="48920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Business Logic +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9328023" y="5029200"/>
            <a:ext cx="274320" cy="274320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99346" y="5100523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9628632" y="4892040"/>
            <a:ext cx="1920240" cy="54864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9628632" y="48920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40080" y="55778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Redis + Celery support the backend with caching and asynchronous task processing.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40080" y="7955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How FocusGuard AI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40080" y="1965960"/>
            <a:ext cx="1691640" cy="3108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749808" y="20391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175004" y="2468880"/>
            <a:ext cx="621792" cy="621792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6670" y="263054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731520" y="3264408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User 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31520" y="4023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Web sessions generate activity signals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233879" y="3346704"/>
            <a:ext cx="347472" cy="347472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4222" y="3437047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2483510" y="1965960"/>
            <a:ext cx="1691640" cy="3108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2593238" y="20391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018434" y="2468880"/>
            <a:ext cx="621792" cy="621792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0100" y="263054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2574950" y="3264408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Data Collection &amp; 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574950" y="4023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Events queued and processed asynchronously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077310" y="3346704"/>
            <a:ext cx="347472" cy="347472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652" y="3437047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4326941" y="1965960"/>
            <a:ext cx="1691640" cy="3108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436669" y="20391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861865" y="2468880"/>
            <a:ext cx="621792" cy="621792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3531" y="263054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/>
          <p:nvPr/>
        </p:nvSpPr>
        <p:spPr>
          <a:xfrm>
            <a:off x="4418381" y="3264408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Productivity 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418381" y="4023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Activity classified and scored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920740" y="3346704"/>
            <a:ext cx="347472" cy="347472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1083" y="3437047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/>
          <p:nvPr/>
        </p:nvSpPr>
        <p:spPr>
          <a:xfrm>
            <a:off x="6170371" y="1965960"/>
            <a:ext cx="1691640" cy="310896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280099" y="20391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705295" y="2468880"/>
            <a:ext cx="621792" cy="621792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6961" y="263054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6261811" y="3264408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AI 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261811" y="4023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Patterns interpreted for meaning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7764170" y="3346704"/>
            <a:ext cx="347472" cy="347472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4513" y="3437047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/>
          <p:nvPr/>
        </p:nvSpPr>
        <p:spPr>
          <a:xfrm>
            <a:off x="8013802" y="1965960"/>
            <a:ext cx="1691640" cy="3108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123530" y="20391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548726" y="2468880"/>
            <a:ext cx="621792" cy="621792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10392" y="263054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/>
          <p:nvPr/>
        </p:nvSpPr>
        <p:spPr>
          <a:xfrm>
            <a:off x="8105242" y="3264408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Personalized Insights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105242" y="4023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Recommendations and goals generated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9607601" y="3346704"/>
            <a:ext cx="347472" cy="347472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7944" y="3437047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9857232" y="1965960"/>
            <a:ext cx="1691640" cy="31089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9966960" y="20391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10392156" y="2468880"/>
            <a:ext cx="621792" cy="621792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53822" y="263054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7"/>
          <p:cNvSpPr/>
          <p:nvPr/>
        </p:nvSpPr>
        <p:spPr>
          <a:xfrm>
            <a:off x="9948672" y="3264408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Improved Focus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9948672" y="4023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User takes action, focus improves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40080" y="7955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Why FocusGuard AI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40080" y="1554480"/>
            <a:ext cx="5120640" cy="237744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868680" y="1764792"/>
            <a:ext cx="502920" cy="50292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439" y="189555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/>
          <p:nvPr/>
        </p:nvSpPr>
        <p:spPr>
          <a:xfrm>
            <a:off x="1508760" y="17647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For Individuals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868680" y="23317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Better awareness of time usage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868680" y="26243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Improved, sustained focus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868680" y="291693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Personalized productivity guidance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868680" y="320954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Goal tracking with real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868680" y="350215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Clear identification of distractions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989320" y="1554480"/>
            <a:ext cx="5120640" cy="237744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217920" y="1764792"/>
            <a:ext cx="502920" cy="502920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8679" y="189555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/>
          <p:nvPr/>
        </p:nvSpPr>
        <p:spPr>
          <a:xfrm>
            <a:off x="6858000" y="17647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For Organizations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217920" y="23317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Organisation-level productivity visibility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217920" y="26243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Scoped user insights for org admins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217920" y="291693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Role-based access and accountability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217920" y="320954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•  Foundation for data-driven decisions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40080" y="41605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KEY DIFFERENTIATOR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40080" y="4544568"/>
            <a:ext cx="5120640" cy="141732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868680" y="47091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TRADITIONAL PRODUCTIVITY TOOLS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868680" y="5047488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"What tasks did you complete?"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989320" y="4544568"/>
            <a:ext cx="5120640" cy="1417320"/>
          </a:xfrm>
          <a:prstGeom prst="rect">
            <a:avLst/>
          </a:prstGeom>
          <a:solidFill>
            <a:srgbClr val="E8E5DD"/>
          </a:solidFill>
          <a:ln cap="flat" cmpd="sng" w="15875">
            <a:solidFill>
              <a:srgbClr val="E3A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6217920" y="47091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217920" y="5047488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50"/>
              <a:buFont typeface="Calibri"/>
              <a:buNone/>
            </a:pPr>
            <a:r>
              <a:rPr b="1" i="1" lang="en-US" sz="135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"How effectively did you use your time — and how can you improve?"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40080" y="7955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Where FocusGuard AI Can Go Next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40080" y="1691640"/>
            <a:ext cx="3520440" cy="40233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40080" y="1691640"/>
            <a:ext cx="3520440" cy="73152"/>
          </a:xfrm>
          <a:prstGeom prst="rect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868680" y="196596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A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FA39A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868680" y="2606040"/>
            <a:ext cx="384048" cy="384048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532" y="270589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/>
          <p:nvPr/>
        </p:nvSpPr>
        <p:spPr>
          <a:xfrm>
            <a:off x="1417320" y="253288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Web platform with AI coaching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68680" y="3383280"/>
            <a:ext cx="384048" cy="384048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532" y="348313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1417320" y="331012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Focus goals &amp; scoring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68680" y="4160520"/>
            <a:ext cx="384048" cy="384048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532" y="426037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9"/>
          <p:cNvSpPr/>
          <p:nvPr/>
        </p:nvSpPr>
        <p:spPr>
          <a:xfrm>
            <a:off x="1417320" y="408736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Multilingual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128516" y="3557016"/>
            <a:ext cx="292608" cy="292608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4594" y="3633094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9"/>
          <p:cNvSpPr/>
          <p:nvPr/>
        </p:nvSpPr>
        <p:spPr>
          <a:xfrm>
            <a:off x="4389120" y="1691640"/>
            <a:ext cx="3520440" cy="402336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389120" y="1691640"/>
            <a:ext cx="3520440" cy="73152"/>
          </a:xfrm>
          <a:prstGeom prst="rect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4617720" y="196596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617720" y="2606040"/>
            <a:ext cx="384048" cy="384048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7572" y="270589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/>
          <p:nvPr/>
        </p:nvSpPr>
        <p:spPr>
          <a:xfrm>
            <a:off x="5166360" y="253288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Productivity forecasting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617720" y="3383280"/>
            <a:ext cx="384048" cy="384048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7572" y="348313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9"/>
          <p:cNvSpPr/>
          <p:nvPr/>
        </p:nvSpPr>
        <p:spPr>
          <a:xfrm>
            <a:off x="5166360" y="331012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Calendar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617720" y="4160520"/>
            <a:ext cx="384048" cy="384048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7572" y="426037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/>
          <p:nvPr/>
        </p:nvSpPr>
        <p:spPr>
          <a:xfrm>
            <a:off x="5166360" y="408736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Native Mobile Application (iOS/Android)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877556" y="3557016"/>
            <a:ext cx="292608" cy="292608"/>
          </a:xfrm>
          <a:prstGeom prst="ellipse">
            <a:avLst/>
          </a:prstGeom>
          <a:solidFill>
            <a:srgbClr val="151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3634" y="3633094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/>
          <p:nvPr/>
        </p:nvSpPr>
        <p:spPr>
          <a:xfrm>
            <a:off x="8138160" y="1691640"/>
            <a:ext cx="3520440" cy="402336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8138160" y="1691640"/>
            <a:ext cx="3520440" cy="73152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8366760" y="196596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8366760" y="2606040"/>
            <a:ext cx="384048" cy="384048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6612" y="270589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8915400" y="253288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Predictive burnout-risk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366760" y="3383280"/>
            <a:ext cx="384048" cy="384048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6612" y="348313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9"/>
          <p:cNvSpPr/>
          <p:nvPr/>
        </p:nvSpPr>
        <p:spPr>
          <a:xfrm>
            <a:off x="8915400" y="331012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Enterprise productivity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366760" y="4160520"/>
            <a:ext cx="384048" cy="384048"/>
          </a:xfrm>
          <a:prstGeom prst="ellipse">
            <a:avLst/>
          </a:prstGeom>
          <a:solidFill>
            <a:srgbClr val="5FA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0" name="Google Shape;32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6612" y="426037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9"/>
          <p:cNvSpPr/>
          <p:nvPr/>
        </p:nvSpPr>
        <p:spPr>
          <a:xfrm>
            <a:off x="8915400" y="408736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AI-generated work 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0080" y="7955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Turning Time Into Intelligence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40080" y="1783080"/>
            <a:ext cx="2606040" cy="237744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1613916" y="2057400"/>
            <a:ext cx="658368" cy="658368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092" y="22285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0"/>
          <p:cNvSpPr/>
          <p:nvPr/>
        </p:nvSpPr>
        <p:spPr>
          <a:xfrm>
            <a:off x="804672" y="2880360"/>
            <a:ext cx="22768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804672" y="3264408"/>
            <a:ext cx="22768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FocusGuard AI makes productivity and focus visible through activity-based analytics.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410712" y="1783080"/>
            <a:ext cx="2606040" cy="237744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4384548" y="2057400"/>
            <a:ext cx="658368" cy="658368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5724" y="22285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"/>
          <p:cNvSpPr/>
          <p:nvPr/>
        </p:nvSpPr>
        <p:spPr>
          <a:xfrm>
            <a:off x="3575304" y="2880360"/>
            <a:ext cx="22768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575304" y="3264408"/>
            <a:ext cx="22768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AI and analytics help users identify productive patterns and distractions.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181344" y="1783080"/>
            <a:ext cx="2606040" cy="237744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7155180" y="2057400"/>
            <a:ext cx="658368" cy="658368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6356" y="22285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"/>
          <p:cNvSpPr/>
          <p:nvPr/>
        </p:nvSpPr>
        <p:spPr>
          <a:xfrm>
            <a:off x="6345936" y="2880360"/>
            <a:ext cx="22768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6345936" y="3264408"/>
            <a:ext cx="22768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Personalized recommendations and goals turn insight into action.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8951976" y="1783080"/>
            <a:ext cx="2606040" cy="237744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9925812" y="2057400"/>
            <a:ext cx="658368" cy="658368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988" y="22285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/>
          <p:nvPr/>
        </p:nvSpPr>
        <p:spPr>
          <a:xfrm>
            <a:off x="9116568" y="2880360"/>
            <a:ext cx="22768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9116568" y="3264408"/>
            <a:ext cx="22768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A foundation that can evolve into a broader productivity intelligence ecosystem.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40080" y="4434840"/>
            <a:ext cx="10881360" cy="1051560"/>
          </a:xfrm>
          <a:prstGeom prst="rect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914400" y="443484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"FocusGuard AI doesn't just track productivity — it helps users understand it, act on it, and improve it."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"/>
          <p:cNvSpPr/>
          <p:nvPr/>
        </p:nvSpPr>
        <p:spPr>
          <a:xfrm>
            <a:off x="-2377440" y="3566160"/>
            <a:ext cx="6400800" cy="6400800"/>
          </a:xfrm>
          <a:prstGeom prst="ellipse">
            <a:avLst/>
          </a:prstGeom>
          <a:solidFill>
            <a:srgbClr val="F5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-1097280" y="4846320"/>
            <a:ext cx="3840480" cy="384048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9052560" y="777240"/>
            <a:ext cx="960120" cy="960120"/>
          </a:xfrm>
          <a:prstGeom prst="ellipse">
            <a:avLst/>
          </a:prstGeom>
          <a:solidFill>
            <a:srgbClr val="E8E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2191" y="102687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1"/>
          <p:cNvSpPr/>
          <p:nvPr/>
        </p:nvSpPr>
        <p:spPr>
          <a:xfrm>
            <a:off x="822960" y="2148840"/>
            <a:ext cx="9144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22960" y="3063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85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3A857"/>
                </a:solidFill>
                <a:latin typeface="Calibri"/>
                <a:ea typeface="Calibri"/>
                <a:cs typeface="Calibri"/>
                <a:sym typeface="Calibri"/>
              </a:rPr>
              <a:t>FocusGuard AI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822960" y="3474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"Understand Your Focus. Improve Your Productivity."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